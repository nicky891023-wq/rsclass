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Earth Engine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8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Cloud-Scale Time Series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0682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v9.0 -- The Cloud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Su Wen-Ray  |  National Taiwan University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E06828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3200400"/>
            <a:ext cx="1371600" cy="1371600"/>
          </a:xfrm>
          <a:prstGeom prst="ellipse">
            <a:avLst/>
          </a:prstGeom>
          <a:solidFill>
            <a:srgbClr val="D4885A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0682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W8–W12: Local Processing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8B5E3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Sentinel-2 scene, QGIS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532888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8B5E3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3288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5328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scenes, change detection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099816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8B5E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9981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0998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basics, one S1 image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666744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8B5E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6674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6667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+ terrain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4233672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8B5E3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336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42336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local ML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FF0E0"/>
          </a:solidFill>
          <a:ln w="19050">
            <a:solidFill>
              <a:srgbClr val="E06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W13: Cloud Processing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20116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images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Cloud-side computation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compositing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export to local tools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10332720" cy="731520"/>
          </a:xfrm>
          <a:prstGeom prst="rect">
            <a:avLst>
              <a:gd name="adj" fmla="val 12500"/>
            </a:avLst>
          </a:prstGeom>
          <a:solidFill>
            <a:srgbClr val="F5EDE3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09728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5577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8328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38328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5577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66928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566928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5577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95528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795528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Cloud Computing?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38988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has 16 GB RAM. Google Earth Engine has thousands of servers running in parallel. Process an entire country in minutes, not days.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94436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Download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already on Google's servers. No more waiting hours to download Sentinel scenes. You send commands; the data never leaves the cloud.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49884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8006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script IS your complete analysis workflow. Share the code, and anyone can replicate your results with zero setup.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5EDE3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/ Jupyter)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5EDE3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71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137160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5EDE3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371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412480" y="2057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 / CSV / GeoTIFF)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645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645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0E0"/>
          </a:solidFill>
          <a:ln w="12700">
            <a:solidFill>
              <a:srgbClr val="D48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Server-Side Computation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sends instructions, not data.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servers do all the heavy lifting.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final result comes back to you.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0E0"/>
          </a:solidFill>
          <a:ln w="12700">
            <a:solidFill>
              <a:srgbClr val="D48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Lazy Evaluation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840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executes until you request output.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 of operations first,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trigger computation with .getInfo() or export.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8B5E3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94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Like ordering at a restaurant -- the kitchen doesn't start cooking until you say 'That's my complete order.'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Abstractions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554480"/>
            <a:ext cx="1097280" cy="10972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554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ee.Image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photo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raster with bands.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scene = one ee.Image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13 spectral bands.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554480"/>
            <a:ext cx="1097280" cy="10972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554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ee.ImageCollection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Photo album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images filtered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date, location, and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28016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1554480"/>
            <a:ext cx="1097280" cy="10972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1554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50392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ee.Reducer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Statistical function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38404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a collection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image: median,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linearFit, etc.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API + geemap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E0682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 needed -- full GEE access from Python in Jupyter Notebook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6400800" cy="3474720"/>
          </a:xfrm>
          <a:prstGeom prst="roundRect">
            <a:avLst>
              <a:gd name="adj" fmla="val 2632"/>
            </a:avLst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geemap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ee.Authenticate()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ee.Initialize(project='my-project')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= geemap.Map()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ee.ImageCollection('COPERNICUS/S2_SR_HARMONIZED')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.filterDate('2020-01-01', '2026-03-31')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.filterBounds(aoi)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.filter(ee.Filter.lt('CLOUDY_PIXEL_PERCENTAGE', 40))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Map.addLayer(s2.median(), vis, 'S2 Composite')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2103120"/>
            <a:ext cx="4206240" cy="3474720"/>
          </a:xfrm>
          <a:prstGeom prst="roundRect">
            <a:avLst>
              <a:gd name="adj" fmla="val 3158"/>
            </a:avLst>
          </a:prstGeom>
          <a:solidFill>
            <a:srgbClr val="F5EDE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geemap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0" y="2880360"/>
            <a:ext cx="182880" cy="1828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in Jupyter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3264408"/>
            <a:ext cx="182880" cy="1828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inspector &amp; drawing tools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3648456"/>
            <a:ext cx="182880" cy="1828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584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charts built-in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4032504"/>
            <a:ext cx="182880" cy="1828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39684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GeoTIFF / CSV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4416552"/>
            <a:ext cx="182880" cy="1828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43525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Folium-style map controls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4800600"/>
            <a:ext cx="182880" cy="1828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4736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VS Code &amp; JupyterLab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5C3A2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1: NDVI Time Series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0" y="22860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E0682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 hands-on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 →  Cloud Mask  →  NDVI  →  Monthly Aggregate  →  Plot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Sentinel-2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filterDate(), filterBounds()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 &lt; 40%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Masking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SCL band to mask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and shadows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0352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NDVI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normalizedDifference()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over collection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8952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Statistics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month, compute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min / max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combined Reducers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15544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6988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30" name="Text 28"/>
          <p:cNvSpPr/>
          <p:nvPr/>
        </p:nvSpPr>
        <p:spPr>
          <a:xfrm>
            <a:off x="104698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87552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Chart + Spread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min-max band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spread bar chart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earthquake marker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389120"/>
            <a:ext cx="10972800" cy="2011680"/>
          </a:xfrm>
          <a:prstGeom prst="roundRect">
            <a:avLst>
              <a:gd name="adj" fmla="val 4545"/>
            </a:avLst>
          </a:prstGeom>
          <a:solidFill>
            <a:srgbClr val="FFF0E0"/>
          </a:solidFill>
          <a:ln w="12700">
            <a:solidFill>
              <a:srgbClr val="D488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4937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Three-line chart: green mean + brown min (worst pixel) + dark-green max (best pixel)</a:t>
            </a:r>
            <a:endParaRPr lang="en-US" sz="12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 between min and max shows spatial spread across AOI</a:t>
            </a:r>
            <a:endParaRPr lang="en-US" sz="12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panel: orange bar chart of spread (max-min) — widening = increased spatial heterogeneity</a:t>
            </a:r>
            <a:endParaRPr lang="en-US" sz="12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marker at 2024-04-03 — compare: does min drop more than mean?</a:t>
            </a:r>
            <a:endParaRPr lang="en-US" sz="12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mean dilutes local damage signals; min reveals localized landslide scars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Composite: Why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5EDE3"/>
          </a:solidFill>
          <a:ln w="19050">
            <a:solidFill>
              <a:srgbClr val="9C7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926080" cy="54864"/>
          </a:xfrm>
          <a:prstGeom prst="rect">
            <a:avLst/>
          </a:prstGeom>
          <a:solidFill>
            <a:srgbClr val="9C7A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Individual Images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clouds in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locations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5EDE3"/>
          </a:solidFill>
          <a:ln w="19050">
            <a:solidFill>
              <a:srgbClr val="8B5E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292608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Pixel-wise Median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194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pixel, take the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across all 50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F5EDE3"/>
          </a:solidFill>
          <a:ln w="19050">
            <a:solidFill>
              <a:srgbClr val="E06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417320"/>
            <a:ext cx="3566160" cy="54864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Cloud-Free Composite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are outliers →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rejects them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0682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appear randomly across images. The median of a pixel stack is almost always a cloud-free value because clouds are the outliers, not the norm. More images = better composite.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5EDE3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37160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11480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days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5800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composite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 min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144000" y="5897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GEE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Three-Phase Composite Comparison (三期中值合成)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5EDE3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004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Pre-EQ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震前基線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C8E6C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2023/01 – 2024/03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median composite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vegetation (NDVI 0.4–0.8)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months of imagery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5EDE3"/>
          </a:solidFill>
          <a:ln w="19050">
            <a:solidFill>
              <a:srgbClr val="E06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3200400" cy="54864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554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Post-EQ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震後損害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19456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FFCCBC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2024/04 – 2024/09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earthquake damage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Landslides &amp; exposed soil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drops (0.1–0.4)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2801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5EDE3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17320"/>
            <a:ext cx="320040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554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Post-Dam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堰塞湖潰堤後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219456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E1BEE7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2025/10 – 2026/03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92440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dam breach impact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damage or partial recovery?</a:t>
            </a:r>
            <a:endParaRPr lang="en-US" sz="11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10972800" cy="2286000"/>
          </a:xfrm>
          <a:prstGeom prst="roundRect">
            <a:avLst>
              <a:gd name="adj" fmla="val 4800"/>
            </a:avLst>
          </a:prstGeom>
          <a:solidFill>
            <a:srgbClr val="FFF0E0"/>
          </a:solidFill>
          <a:ln w="12700">
            <a:solidFill>
              <a:srgbClr val="E06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ΔNDVI Maps — Disentangling Multi-Event Damage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" y="470916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6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delta_eq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2 − Phase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direct damage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470916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delta_dam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3 − Phase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Landslide-dam impact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damage or recovery?)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470916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delta_total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6676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3 − Phase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6676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accumulated change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Sentinel-1 in GEE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38988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S1 GRD Archive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hosts the full Sentinel-1 Ground Range Detected (GRD) archive. Note: SLC data is not available in GEE -- only amplitude, not phase.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85292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VV Time Series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5468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Cloud-independent monitoring! SAR penetrates clouds. Build VV backscatter time series for any location, any time period. Detect changes invisible to optical sensors.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315968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 to W10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6177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SAR concepts from Week 10, now with temporal depth. Instead of one S1 image, analyze the full temporal stack. Speckle reduction via temporal averaging.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66928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5EDE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650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GRD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" y="6108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5650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VV+VH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834640" y="6108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5650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937760" y="6108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5650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6-day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0880" y="6108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(2 sats)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8320" y="5650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418320" y="6108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start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5C3A2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2: SAR Time Series + Export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0" y="22860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E0682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0" y="228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hands-on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 →  VV Time Series  →  Pre/Post Composite  →  Export GeoTIFF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S1 Collection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mode, VV polarization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pass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filterBounds(aoi)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5544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VV Time Series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mean VV per date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temporal profile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change points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Pre/Post Composite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median composites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earthquake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speckle noise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0" y="15544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EDE3"/>
          </a:solidFill>
          <a:ln w="6350">
            <a:solidFill>
              <a:srgbClr val="E8D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17373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23544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GeoTIFF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ee.batch.Export.image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Google Drive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local tools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389120"/>
            <a:ext cx="10972800" cy="1463040"/>
          </a:xfrm>
          <a:prstGeom prst="roundRect">
            <a:avLst>
              <a:gd name="adj" fmla="val 6250"/>
            </a:avLst>
          </a:prstGeom>
          <a:solidFill>
            <a:srgbClr val="FFF0E0"/>
          </a:solidFill>
          <a:ln w="12700">
            <a:solidFill>
              <a:srgbClr val="D488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to Local Analysis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937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GeoTIFF can be loaded directly into your W12 Random Forest classifier.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processing (GEE) produces clean inputs → local ML consumes them.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real-world workflow: cloud for preprocessing, local for custom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InSAR: Concept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F5EDE3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5029200" cy="54864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Amplitude (W10)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energy bounced 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surface roughness and geometry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= rough surfaces (cities, forests)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= smooth surfaces (water, roads)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land cover mapping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GEE as GRD product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 w="19050">
            <a:solidFill>
              <a:srgbClr val="E06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417320"/>
            <a:ext cx="5029200" cy="54864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InSAR Phase (New!)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of the return wave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ground displacement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phase of two SAR passes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difference = distance change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millimeter-level!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SLC data (not in GEE)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3035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E0682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mm-Level Precision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InSAR can detect ground displacement as small as a few millimeters. This makes it invaluable for monitoring earthquakes, landslides, volcanic deformation, and subsidence.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InSAR: Interferogram Reading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5ED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Rainbow Fringes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Interferogram shows phase difference as color cycles.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 color cycle (fringe) represents λ/2 displacement.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Sentinel-1 (C-band, λ = 5.6 cm):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 fringe = 2.8 cm of ground movement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FF0E0"/>
          </a:solidFill>
          <a:ln w="12700">
            <a:solidFill>
              <a:srgbClr val="E06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4-Step Reading Method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1874520"/>
            <a:ext cx="320040" cy="292608"/>
          </a:xfrm>
          <a:prstGeom prst="roundRect">
            <a:avLst>
              <a:gd name="adj" fmla="val 12500"/>
            </a:avLst>
          </a:prstGeom>
          <a:solidFill>
            <a:srgbClr val="E0682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745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info -- which pass, which orbit?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258568"/>
            <a:ext cx="320040" cy="292608"/>
          </a:xfrm>
          <a:prstGeom prst="roundRect">
            <a:avLst>
              <a:gd name="adj" fmla="val 12500"/>
            </a:avLst>
          </a:prstGeom>
          <a:solidFill>
            <a:srgbClr val="E0682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2585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2585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fringes -- how many full color cycles?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2642616"/>
            <a:ext cx="320040" cy="292608"/>
          </a:xfrm>
          <a:prstGeom prst="roundRect">
            <a:avLst>
              <a:gd name="adj" fmla="val 12500"/>
            </a:avLst>
          </a:prstGeom>
          <a:solidFill>
            <a:srgbClr val="E0682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64261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264261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-- toward or away from satellite?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3026664"/>
            <a:ext cx="320040" cy="292608"/>
          </a:xfrm>
          <a:prstGeom prst="roundRect">
            <a:avLst>
              <a:gd name="adj" fmla="val 12500"/>
            </a:avLst>
          </a:prstGeom>
          <a:solidFill>
            <a:srgbClr val="E0682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0266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30266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displacement -- fringes × λ/2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5EDE3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Calculation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count 5 fringes in a Sentinel-1 interferogram:    5 fringes × 2.8 cm/fringe = 14 cm total displacement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could indicate significant ground movement from an earthquake, landslide, or volcanic activity.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5EDE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486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806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水保署電子報第141期 -- InSAR 地表變形監測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陳柔妃 &amp; 林慶偉 (2018) -- InSAR 原理與應用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InSAR: Tools &amp; 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Best For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 (ESA)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GUI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Beginners, single-pair interferograms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Research-grade processing, full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MintPy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series InSAR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LiCSBAS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 time series with LiCSAR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5EDE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ASF DAAC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Satellite Facility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Sentinel-1 SLC archive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registration, bulk download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393192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5EDE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COMET LiCSAR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44348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Pre-processed interferograms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coverage, auto-updated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time series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566928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5669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in this course, but now you know where to start. These tools are your next step if you pursue SAR research.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 vs STAC 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Google Earth Engine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STAC API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E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(Google servers)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(your machine)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(petabyte archives)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your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GEE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control, any ML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 catalog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STAC-compliant catalog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 account + ee.Initialize()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+ API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GeoTIFF to Drive/Cloud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download, xarray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389120"/>
            <a:ext cx="10972800" cy="1463040"/>
          </a:xfrm>
          <a:prstGeom prst="roundRect">
            <a:avLst>
              <a:gd name="adj" fmla="val 7500"/>
            </a:avLst>
          </a:prstGeom>
          <a:solidFill>
            <a:srgbClr val="FFF0E0"/>
          </a:solidFill>
          <a:ln w="12700">
            <a:solidFill>
              <a:srgbClr val="E06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Complementary, Not Competing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983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excels at large-scale preprocessing, compositing, and time series over huge areas.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 API shines when you need custom ML pipelines, specific algorithms, or non-GEE data.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use GEE for preprocessing → export → local analysis with full Python ecosystem.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Cross-Week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0" y="11887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068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 (W13)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737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series, composites,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GeoTIFF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GeoTIFF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5EDE3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337560"/>
            <a:ext cx="310896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W12: Random Forest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using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GEE-exported composites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input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32004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5EDE3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3337560"/>
            <a:ext cx="310896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W10: SAR Fusion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977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SAR temporal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with optical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32004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5EDE3"/>
          </a:solidFill>
          <a:ln w="19050">
            <a:solidFill>
              <a:srgbClr val="E06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3337560"/>
            <a:ext cx="3108960" cy="54864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W9: Change Detection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3977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change maps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multi-temporal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composites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FF0E0"/>
          </a:solidFill>
          <a:ln w="12700">
            <a:solidFill>
              <a:srgbClr val="D48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Workflow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handles the heavy lifting (filtering, compositing, time series) → Export clean GeoTIFFs → Local tools (Python, QGIS) for custom analysis, ML, and visualization. Each week's skills feed into this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C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 v9.0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2011680"/>
          </a:xfrm>
          <a:prstGeom prst="roundRect">
            <a:avLst>
              <a:gd name="adj" fmla="val 5455"/>
            </a:avLst>
          </a:prstGeom>
          <a:solidFill>
            <a:srgbClr val="8B5E3C"/>
          </a:solidFill>
          <a:ln w="12700">
            <a:solidFill>
              <a:srgbClr val="D48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Layer: Google Earth 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/ Sentinel-1 archives  →  Filtering + Cloud Masking  →  Time Series &amp; Composites  →  Export GeoTIFF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682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3774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6828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Collection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682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3774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6828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NDVI/VV Series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6828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Composite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29800" y="237744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6828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GeoTIFF  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10972800" cy="1188720"/>
          </a:xfrm>
          <a:prstGeom prst="roundRect">
            <a:avLst>
              <a:gd name="adj" fmla="val 9231"/>
            </a:avLst>
          </a:prstGeom>
          <a:solidFill>
            <a:srgbClr val="3D2B1F"/>
          </a:solidFill>
          <a:ln w="12700">
            <a:solidFill>
              <a:srgbClr val="9C7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Layer: Python / QGIS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9C7A5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42976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9C7A5A"/>
          </a:solidFill>
          <a:ln/>
        </p:spPr>
      </p:sp>
      <p:sp>
        <p:nvSpPr>
          <p:cNvPr id="26" name="Text 24"/>
          <p:cNvSpPr/>
          <p:nvPr/>
        </p:nvSpPr>
        <p:spPr>
          <a:xfrm>
            <a:off x="3063240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0" y="42976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9C7A5A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42976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9C7A5A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09760" y="42976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9C7A5A"/>
          </a:solidFill>
          <a:ln/>
        </p:spPr>
      </p:sp>
      <p:sp>
        <p:nvSpPr>
          <p:cNvPr id="32" name="Text 30"/>
          <p:cNvSpPr/>
          <p:nvPr/>
        </p:nvSpPr>
        <p:spPr>
          <a:xfrm>
            <a:off x="9509760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Viz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8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 Version History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56235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669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v5.0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59893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W8: First Light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14600" y="56235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5669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v6.0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514600" y="59893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W9: Change Detection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56235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5669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v7.0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389120" y="59893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W10: SAR Integration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56235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5669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v7.5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63640" y="59893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W11: Terrain Engine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56235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5669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v8.0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138160" y="59893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W12: ML Classifier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012680" y="56235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E06828"/>
          </a:solidFill>
          <a:ln w="25400">
            <a:solidFill>
              <a:srgbClr val="E068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12680" y="5669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v9.0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012680" y="59893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W13: Cloud Engine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C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Pixels to Petabytes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8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8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Changes Thinking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can process 500 images as easily as 1, you design different analyses. Think in time series, not single scenes.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34747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8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+ Local = Complete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88620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handles the heavy lifting. Local tools give you full control. The best workflow combines both.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3D2B1F"/>
          </a:solidFill>
          <a:ln w="6350">
            <a:solidFill>
              <a:srgbClr val="9C7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846320"/>
            <a:ext cx="640080" cy="640080"/>
          </a:xfrm>
          <a:prstGeom prst="ellipse">
            <a:avLst/>
          </a:prstGeom>
          <a:solidFill>
            <a:srgbClr val="E0682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47548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8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Your Statistics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16636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can hide local damage. Adding min/max revealed what the average missed. The best skill in data science is asking better questions.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080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v9.0 -- The Cloud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8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Su Wen-Ray  |  National Taiwan University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0682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v9.0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13: Google Earth Engine &amp; Cloud-Scale Time Series</dc:title>
  <dc:subject>PptxGenJS Presentation</dc:subject>
  <dc:creator>Prof. Su Wen-Ray</dc:creator>
  <cp:lastModifiedBy>Prof. Su Wen-Ray</cp:lastModifiedBy>
  <cp:revision>1</cp:revision>
  <dcterms:created xsi:type="dcterms:W3CDTF">2026-05-18T12:24:38Z</dcterms:created>
  <dcterms:modified xsi:type="dcterms:W3CDTF">2026-05-18T12:24:38Z</dcterms:modified>
</cp:coreProperties>
</file>